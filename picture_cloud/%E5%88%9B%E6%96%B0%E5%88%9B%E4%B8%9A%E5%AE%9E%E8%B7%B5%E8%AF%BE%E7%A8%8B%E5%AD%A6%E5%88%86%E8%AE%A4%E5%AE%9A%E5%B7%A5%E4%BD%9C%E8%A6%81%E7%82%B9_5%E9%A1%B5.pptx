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23960" y="0"/>
            <a:ext cx="3383280" cy="6858000"/>
          </a:xfrm>
          <a:prstGeom prst="rect">
            <a:avLst/>
          </a:prstGeom>
          <a:solidFill>
            <a:srgbClr val="2F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46920" y="0"/>
            <a:ext cx="2560320" cy="6858000"/>
          </a:xfrm>
          <a:prstGeom prst="rect">
            <a:avLst/>
          </a:prstGeom>
          <a:solidFill>
            <a:srgbClr val="218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52760" y="0"/>
            <a:ext cx="1536192" cy="685800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15400" y="1051560"/>
            <a:ext cx="1417320" cy="1417320"/>
          </a:xfrm>
          <a:prstGeom prst="ellipse">
            <a:avLst/>
          </a:prstGeom>
          <a:solidFill>
            <a:srgbClr val="E0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21240" y="2788920"/>
            <a:ext cx="1737360" cy="1737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23960" y="4709160"/>
            <a:ext cx="1143000" cy="1143000"/>
          </a:xfrm>
          <a:prstGeom prst="ellipse">
            <a:avLst/>
          </a:prstGeom>
          <a:solidFill>
            <a:srgbClr val="218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685800"/>
            <a:ext cx="7040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0D3ED"/>
                </a:solidFill>
                <a:latin typeface="Microsoft YaHei"/>
              </a:rPr>
              <a:t>重庆工程学院｜工作要点解读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00200"/>
            <a:ext cx="731520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Microsoft YaHei"/>
              </a:rPr>
              <a:t>《创新创业实践》
课程学分认定工作要点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337560"/>
            <a:ext cx="6766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2EBF7"/>
                </a:solidFill>
                <a:latin typeface="Microsoft YaHei"/>
              </a:rPr>
              <a:t>2026—2027学年第一学期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114800"/>
            <a:ext cx="960120" cy="64008"/>
          </a:xfrm>
          <a:prstGeom prst="rect">
            <a:avLst/>
          </a:prstGeom>
          <a:solidFill>
            <a:srgbClr val="E0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4572000"/>
            <a:ext cx="69494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icrosoft YaHei"/>
              </a:rPr>
              <a:t>认定范围  ·  操作流程  ·  时间节点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6263640"/>
            <a:ext cx="6858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0D3ED"/>
                </a:solidFill>
                <a:latin typeface="Microsoft YaHei"/>
              </a:rPr>
              <a:t>依据课程教学大纲、认定标准及学分认定系统使用说明整理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8755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D4E"/>
                </a:solidFill>
                <a:latin typeface="Microsoft YaHei"/>
              </a:rPr>
              <a:t>课程基本信息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284"/>
                </a:solidFill>
                <a:latin typeface="Microsoft YaHei"/>
              </a:rPr>
              <a:t>先明确课程属性与认定逻辑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284"/>
                </a:solidFill>
                <a:latin typeface="Microsoft YaHei"/>
              </a:rPr>
              <a:t>02 /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578608" cy="1170432"/>
          </a:xfrm>
          <a:prstGeom prst="roundRect">
            <a:avLst/>
          </a:prstGeom>
          <a:solidFill>
            <a:srgbClr val="E5EEF9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09344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F67B0"/>
                </a:solidFill>
                <a:latin typeface="Microsoft YaHei"/>
              </a:rPr>
              <a:t>1 学分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7284"/>
                </a:solidFill>
                <a:latin typeface="Microsoft YaHei"/>
              </a:rPr>
              <a:t>课程学分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578608" cy="1170432"/>
          </a:xfrm>
          <a:prstGeom prst="roundRect">
            <a:avLst/>
          </a:prstGeom>
          <a:solidFill>
            <a:srgbClr val="E2F3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79" y="1609344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18B8E"/>
                </a:solidFill>
                <a:latin typeface="Microsoft YaHei"/>
              </a:rPr>
              <a:t>16 学时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0574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7284"/>
                </a:solidFill>
                <a:latin typeface="Microsoft YaHei"/>
              </a:rPr>
              <a:t>全部为实践学时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2578608" cy="1170432"/>
          </a:xfrm>
          <a:prstGeom prst="roundRect">
            <a:avLst/>
          </a:prstGeom>
          <a:solidFill>
            <a:srgbClr val="FAF2DE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609344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E0A640"/>
                </a:solidFill>
                <a:latin typeface="Microsoft YaHei"/>
              </a:rPr>
              <a:t>必修课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7284"/>
                </a:solidFill>
                <a:latin typeface="Microsoft YaHei"/>
              </a:rPr>
              <a:t>通识教育课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417320"/>
            <a:ext cx="2578608" cy="1170432"/>
          </a:xfrm>
          <a:prstGeom prst="roundRect">
            <a:avLst/>
          </a:prstGeom>
          <a:solidFill>
            <a:srgbClr val="F1F5FA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1609344"/>
            <a:ext cx="2286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F67B0"/>
                </a:solidFill>
                <a:latin typeface="Microsoft YaHei"/>
              </a:rPr>
              <a:t>全校本科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0574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7284"/>
                </a:solidFill>
                <a:latin typeface="Microsoft YaHei"/>
              </a:rPr>
              <a:t>适用专业范围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2907792"/>
            <a:ext cx="5349240" cy="2487168"/>
          </a:xfrm>
          <a:prstGeom prst="roundRect">
            <a:avLst/>
          </a:prstGeom>
          <a:solidFill>
            <a:srgbClr val="F1F5FA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" y="3017520"/>
            <a:ext cx="64008" cy="2267712"/>
          </a:xfrm>
          <a:prstGeom prst="rect">
            <a:avLst/>
          </a:prstGeom>
          <a:solidFill>
            <a:srgbClr val="2F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072384"/>
            <a:ext cx="49651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D4E"/>
                </a:solidFill>
                <a:latin typeface="Microsoft YaHei"/>
              </a:rPr>
              <a:t>课程定位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529584"/>
            <a:ext cx="5020055" cy="86690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 err="1">
                <a:solidFill>
                  <a:srgbClr val="2F67B0"/>
                </a:solidFill>
                <a:latin typeface="Microsoft YaHei"/>
              </a:rPr>
              <a:t>课程性质：</a:t>
            </a:r>
            <a:r>
              <a:rPr sz="1400" dirty="0" err="1">
                <a:solidFill>
                  <a:srgbClr val="2B3442"/>
                </a:solidFill>
                <a:latin typeface="Microsoft YaHei"/>
              </a:rPr>
              <a:t>必修课程</a:t>
            </a:r>
            <a:endParaRPr sz="1400" dirty="0">
              <a:solidFill>
                <a:srgbClr val="2B3442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400" b="1" dirty="0" err="1">
                <a:solidFill>
                  <a:srgbClr val="2F67B0"/>
                </a:solidFill>
                <a:latin typeface="Microsoft YaHei"/>
              </a:rPr>
              <a:t>先修课程</a:t>
            </a:r>
            <a:r>
              <a:rPr sz="1400" b="1" dirty="0">
                <a:solidFill>
                  <a:srgbClr val="2F67B0"/>
                </a:solidFill>
                <a:latin typeface="Microsoft YaHei"/>
              </a:rPr>
              <a:t>：</a:t>
            </a:r>
            <a:r>
              <a:rPr sz="1400" dirty="0">
                <a:solidFill>
                  <a:srgbClr val="2B3442"/>
                </a:solidFill>
                <a:latin typeface="Microsoft YaHei"/>
              </a:rPr>
              <a:t>《</a:t>
            </a:r>
            <a:r>
              <a:rPr sz="1400" dirty="0" err="1">
                <a:solidFill>
                  <a:srgbClr val="2B3442"/>
                </a:solidFill>
                <a:latin typeface="Microsoft YaHei"/>
              </a:rPr>
              <a:t>创新创业基础</a:t>
            </a:r>
            <a:r>
              <a:rPr sz="1400" dirty="0">
                <a:solidFill>
                  <a:srgbClr val="2B3442"/>
                </a:solidFill>
                <a:latin typeface="Microsoft YaHei"/>
              </a:rPr>
              <a:t>》</a:t>
            </a:r>
          </a:p>
          <a:p>
            <a:pPr>
              <a:spcAft>
                <a:spcPts val="500"/>
              </a:spcAft>
            </a:pPr>
            <a:r>
              <a:rPr sz="1400" b="1" dirty="0" err="1">
                <a:solidFill>
                  <a:srgbClr val="2F67B0"/>
                </a:solidFill>
                <a:latin typeface="Microsoft YaHei"/>
              </a:rPr>
              <a:t>考核方式：</a:t>
            </a:r>
            <a:r>
              <a:rPr sz="1400" dirty="0" err="1">
                <a:solidFill>
                  <a:srgbClr val="2B3442"/>
                </a:solidFill>
                <a:latin typeface="Microsoft YaHei"/>
              </a:rPr>
              <a:t>考查，以实践成果和支撑材料开展学分认定</a:t>
            </a:r>
            <a:endParaRPr sz="1400" dirty="0">
              <a:solidFill>
                <a:srgbClr val="2B3442"/>
              </a:solidFill>
              <a:latin typeface="Microsoft YaHe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99632" y="2907792"/>
            <a:ext cx="5349240" cy="2487168"/>
          </a:xfrm>
          <a:prstGeom prst="roundRect">
            <a:avLst/>
          </a:prstGeom>
          <a:solidFill>
            <a:srgbClr val="E2F3F1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3017520"/>
            <a:ext cx="64008" cy="2267712"/>
          </a:xfrm>
          <a:prstGeom prst="rect">
            <a:avLst/>
          </a:prstGeom>
          <a:solidFill>
            <a:srgbClr val="218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072384"/>
            <a:ext cx="49651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82D4E"/>
                </a:solidFill>
                <a:latin typeface="Microsoft YaHei"/>
              </a:rPr>
              <a:t>认定逻辑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529584"/>
            <a:ext cx="5020055" cy="17739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 err="1">
                <a:solidFill>
                  <a:srgbClr val="2F67B0"/>
                </a:solidFill>
                <a:latin typeface="Microsoft YaHei"/>
              </a:rPr>
              <a:t>参与实践：</a:t>
            </a:r>
            <a:r>
              <a:rPr sz="1400" dirty="0" err="1">
                <a:solidFill>
                  <a:srgbClr val="2B3442"/>
                </a:solidFill>
                <a:latin typeface="Microsoft YaHei"/>
              </a:rPr>
              <a:t>实践活动、学科竞赛、训练计划</a:t>
            </a:r>
            <a:endParaRPr sz="1400" dirty="0">
              <a:solidFill>
                <a:srgbClr val="2B3442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400" b="1" dirty="0" err="1">
                <a:solidFill>
                  <a:srgbClr val="2F67B0"/>
                </a:solidFill>
                <a:latin typeface="Microsoft YaHei"/>
              </a:rPr>
              <a:t>提交材料：</a:t>
            </a:r>
            <a:r>
              <a:rPr sz="1400" dirty="0" err="1">
                <a:solidFill>
                  <a:srgbClr val="2B3442"/>
                </a:solidFill>
                <a:latin typeface="Microsoft YaHei"/>
              </a:rPr>
              <a:t>学生在规定时间内提出申请并上传证明</a:t>
            </a:r>
            <a:endParaRPr sz="1400" dirty="0">
              <a:solidFill>
                <a:srgbClr val="2B3442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400" b="1" dirty="0" err="1">
                <a:solidFill>
                  <a:srgbClr val="2F67B0"/>
                </a:solidFill>
                <a:latin typeface="Microsoft YaHei"/>
              </a:rPr>
              <a:t>审核认定：</a:t>
            </a:r>
            <a:r>
              <a:rPr sz="1400" dirty="0" err="1">
                <a:solidFill>
                  <a:srgbClr val="2B3442"/>
                </a:solidFill>
                <a:latin typeface="Microsoft YaHei"/>
              </a:rPr>
              <a:t>导师核验材料、确认分值，按流程汇总审定</a:t>
            </a:r>
            <a:endParaRPr sz="1400" dirty="0">
              <a:solidFill>
                <a:srgbClr val="2B3442"/>
              </a:solidFill>
              <a:latin typeface="Microsoft Ya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5715000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82D4E"/>
                </a:solidFill>
                <a:latin typeface="Microsoft YaHei"/>
              </a:rPr>
              <a:t>工作目标：标准统一、材料齐全、分值准确、流程闭环。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8755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D4E"/>
                </a:solidFill>
                <a:latin typeface="Microsoft YaHei"/>
              </a:rPr>
              <a:t>学分认定的三大类别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284"/>
                </a:solidFill>
                <a:latin typeface="Microsoft YaHei"/>
              </a:rPr>
              <a:t>学生申报与导师审核均围绕以下三类项目展开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284"/>
                </a:solidFill>
                <a:latin typeface="Microsoft YaHei"/>
              </a:rPr>
              <a:t>03 /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611880" cy="4251960"/>
          </a:xfrm>
          <a:prstGeom prst="roundRect">
            <a:avLst/>
          </a:prstGeom>
          <a:solidFill>
            <a:srgbClr val="E5EEF9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527048"/>
            <a:ext cx="64008" cy="4032504"/>
          </a:xfrm>
          <a:prstGeom prst="rect">
            <a:avLst/>
          </a:prstGeom>
          <a:solidFill>
            <a:srgbClr val="2F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581912"/>
            <a:ext cx="322783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82D4E"/>
                </a:solidFill>
                <a:latin typeface="Microsoft YaHei"/>
              </a:rPr>
              <a:t>01  实践活动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039112"/>
            <a:ext cx="3282696" cy="35387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2F67B0"/>
                </a:solidFill>
                <a:latin typeface="Microsoft YaHei"/>
              </a:rPr>
              <a:t>典型项目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3442"/>
                </a:solidFill>
                <a:latin typeface="Microsoft YaHei"/>
              </a:rPr>
              <a:t>• 实验室开放项目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3442"/>
                </a:solidFill>
                <a:latin typeface="Microsoft YaHei"/>
              </a:rPr>
              <a:t>• 园区创业公司工作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3442"/>
                </a:solidFill>
                <a:latin typeface="Microsoft YaHei"/>
              </a:rPr>
              <a:t>• 教师项目工作室 / 研究所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3442"/>
                </a:solidFill>
                <a:latin typeface="Microsoft YaHei"/>
              </a:rPr>
              <a:t>• 创新创业园孵化项目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3442"/>
                </a:solidFill>
                <a:latin typeface="Microsoft YaHei"/>
              </a:rPr>
              <a:t>• 创办企业、重工创业雏鹰计划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F67B0"/>
                </a:solidFill>
                <a:latin typeface="Microsoft YaHei"/>
              </a:rPr>
              <a:t>审核要点：</a:t>
            </a:r>
            <a:r>
              <a:rPr sz="1300">
                <a:solidFill>
                  <a:srgbClr val="2B3442"/>
                </a:solidFill>
                <a:latin typeface="Microsoft YaHei"/>
              </a:rPr>
              <a:t>参与时长、考核结果、签字盖章及项目限制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417320"/>
            <a:ext cx="3611880" cy="4251960"/>
          </a:xfrm>
          <a:prstGeom prst="roundRect">
            <a:avLst/>
          </a:prstGeom>
          <a:solidFill>
            <a:srgbClr val="E2F3F1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5968" y="1527048"/>
            <a:ext cx="64008" cy="4032504"/>
          </a:xfrm>
          <a:prstGeom prst="rect">
            <a:avLst/>
          </a:prstGeom>
          <a:solidFill>
            <a:srgbClr val="218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581912"/>
            <a:ext cx="322783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82D4E"/>
                </a:solidFill>
                <a:latin typeface="Microsoft YaHei"/>
              </a:rPr>
              <a:t>02  学科竞赛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039112"/>
            <a:ext cx="3282696" cy="35387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2F67B0"/>
                </a:solidFill>
                <a:latin typeface="Microsoft YaHei"/>
              </a:rPr>
              <a:t>典型项目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3442"/>
                </a:solidFill>
                <a:latin typeface="Microsoft YaHei"/>
              </a:rPr>
              <a:t>• 一专一赛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3442"/>
                </a:solidFill>
                <a:latin typeface="Microsoft YaHei"/>
              </a:rPr>
              <a:t>• 目录内 A 类、B 类竞赛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3442"/>
                </a:solidFill>
                <a:latin typeface="Microsoft YaHei"/>
              </a:rPr>
              <a:t>• C、D 类及目录外竞赛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F67B0"/>
                </a:solidFill>
                <a:latin typeface="Microsoft YaHei"/>
              </a:rPr>
              <a:t>审核要点：</a:t>
            </a:r>
            <a:r>
              <a:rPr sz="1300">
                <a:solidFill>
                  <a:srgbClr val="2B3442"/>
                </a:solidFill>
                <a:latin typeface="Microsoft YaHei"/>
              </a:rPr>
              <a:t>竞赛类别、级别、获奖等级、团队排名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F67B0"/>
                </a:solidFill>
                <a:latin typeface="Microsoft YaHei"/>
              </a:rPr>
              <a:t>计分原则：</a:t>
            </a:r>
            <a:r>
              <a:rPr sz="1300">
                <a:solidFill>
                  <a:srgbClr val="2B3442"/>
                </a:solidFill>
                <a:latin typeface="Microsoft YaHei"/>
              </a:rPr>
              <a:t>逐级选拔按最高级别认定；同类成果不重复累计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417320"/>
            <a:ext cx="3566160" cy="4251960"/>
          </a:xfrm>
          <a:prstGeom prst="roundRect">
            <a:avLst/>
          </a:prstGeom>
          <a:solidFill>
            <a:srgbClr val="FAF2DE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37575" y="1527048"/>
            <a:ext cx="64008" cy="4032504"/>
          </a:xfrm>
          <a:prstGeom prst="rect">
            <a:avLst/>
          </a:prstGeom>
          <a:solidFill>
            <a:srgbClr val="E0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38744" y="1581912"/>
            <a:ext cx="31821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82D4E"/>
                </a:solidFill>
                <a:latin typeface="Microsoft YaHei"/>
              </a:rPr>
              <a:t>03  训练计划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7" y="2039112"/>
            <a:ext cx="3236976" cy="35387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2F67B0"/>
                </a:solidFill>
                <a:latin typeface="Microsoft YaHei"/>
              </a:rPr>
              <a:t>典型项目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3442"/>
                </a:solidFill>
                <a:latin typeface="Microsoft YaHei"/>
              </a:rPr>
              <a:t>• 大创年会参展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3442"/>
                </a:solidFill>
                <a:latin typeface="Microsoft YaHei"/>
              </a:rPr>
              <a:t>• 国家级、省级、校级大创项目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3442"/>
                </a:solidFill>
                <a:latin typeface="Microsoft YaHei"/>
              </a:rPr>
              <a:t>• 大创项目申报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F67B0"/>
                </a:solidFill>
                <a:latin typeface="Microsoft YaHei"/>
              </a:rPr>
              <a:t>审核要点：</a:t>
            </a:r>
            <a:r>
              <a:rPr sz="1300">
                <a:solidFill>
                  <a:srgbClr val="2B3442"/>
                </a:solidFill>
                <a:latin typeface="Microsoft YaHei"/>
              </a:rPr>
              <a:t>结题/获奖证明、学院盖章申报书、项目排名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F67B0"/>
                </a:solidFill>
                <a:latin typeface="Microsoft YaHei"/>
              </a:rPr>
              <a:t>计分限制：</a:t>
            </a:r>
            <a:r>
              <a:rPr sz="1300">
                <a:solidFill>
                  <a:srgbClr val="2B3442"/>
                </a:solidFill>
                <a:latin typeface="Microsoft YaHei"/>
              </a:rPr>
              <a:t>同一年度同一学生只认定 1 项，按最高级别认定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25312"/>
            <a:ext cx="1083564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82D4E"/>
                </a:solidFill>
                <a:latin typeface="Microsoft YaHei"/>
              </a:rPr>
              <a:t>底线要求：成果须在认定范围内，材料真实完整，且未用于其他课程学分认定。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8755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D4E"/>
                </a:solidFill>
                <a:latin typeface="Microsoft YaHei"/>
              </a:rPr>
              <a:t>学生端操作流程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284"/>
                </a:solidFill>
                <a:latin typeface="Microsoft YaHei"/>
              </a:rPr>
              <a:t>系统入口：个人中心 → 学分申请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284"/>
                </a:solidFill>
                <a:latin typeface="Microsoft YaHei"/>
              </a:rPr>
              <a:t>04 /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1627632"/>
            <a:ext cx="32004" cy="3886200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9536" y="1490472"/>
            <a:ext cx="658368" cy="658368"/>
          </a:xfrm>
          <a:prstGeom prst="ellipse">
            <a:avLst/>
          </a:prstGeom>
          <a:solidFill>
            <a:srgbClr val="2F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1664208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1417320"/>
            <a:ext cx="9738360" cy="713232"/>
          </a:xfrm>
          <a:prstGeom prst="roundRect">
            <a:avLst/>
          </a:prstGeom>
          <a:solidFill>
            <a:srgbClr val="E5EEF9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93392" y="1527048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2D4E"/>
                </a:solidFill>
                <a:latin typeface="Microsoft YaHei"/>
              </a:rPr>
              <a:t>进入系统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536192"/>
            <a:ext cx="790956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B3442"/>
                </a:solidFill>
                <a:latin typeface="Microsoft YaHei"/>
              </a:rPr>
              <a:t>个人中心打开“学分申请”，查看本人认定情况。</a:t>
            </a:r>
          </a:p>
        </p:txBody>
      </p:sp>
      <p:sp>
        <p:nvSpPr>
          <p:cNvPr id="12" name="Oval 11"/>
          <p:cNvSpPr/>
          <p:nvPr/>
        </p:nvSpPr>
        <p:spPr>
          <a:xfrm>
            <a:off x="859536" y="2368296"/>
            <a:ext cx="658368" cy="658368"/>
          </a:xfrm>
          <a:prstGeom prst="ellipse">
            <a:avLst/>
          </a:prstGeom>
          <a:solidFill>
            <a:srgbClr val="218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" y="2542032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83080" y="2295144"/>
            <a:ext cx="9738360" cy="713232"/>
          </a:xfrm>
          <a:prstGeom prst="roundRect">
            <a:avLst/>
          </a:prstGeom>
          <a:solidFill>
            <a:srgbClr val="E2F3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93392" y="240487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2D4E"/>
                </a:solidFill>
                <a:latin typeface="Microsoft YaHei"/>
              </a:rPr>
              <a:t>编辑申请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414015"/>
            <a:ext cx="790956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B3442"/>
                </a:solidFill>
                <a:latin typeface="Microsoft YaHei"/>
              </a:rPr>
              <a:t>在实践活动、学科竞赛、训练计划板块选择项目并填写参与情况。</a:t>
            </a:r>
          </a:p>
        </p:txBody>
      </p:sp>
      <p:sp>
        <p:nvSpPr>
          <p:cNvPr id="17" name="Oval 16"/>
          <p:cNvSpPr/>
          <p:nvPr/>
        </p:nvSpPr>
        <p:spPr>
          <a:xfrm>
            <a:off x="859536" y="3246120"/>
            <a:ext cx="658368" cy="658368"/>
          </a:xfrm>
          <a:prstGeom prst="ellipse">
            <a:avLst/>
          </a:prstGeom>
          <a:solidFill>
            <a:srgbClr val="E0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" y="3419856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83080" y="3172968"/>
            <a:ext cx="9738360" cy="713232"/>
          </a:xfrm>
          <a:prstGeom prst="roundRect">
            <a:avLst/>
          </a:prstGeom>
          <a:solidFill>
            <a:srgbClr val="FAF2DE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93392" y="3282696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2D4E"/>
                </a:solidFill>
                <a:latin typeface="Microsoft YaHei"/>
              </a:rPr>
              <a:t>上传材料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291839"/>
            <a:ext cx="790956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B3442"/>
                </a:solidFill>
                <a:latin typeface="Microsoft YaHei"/>
              </a:rPr>
              <a:t>按项目说明上传支撑附件，检查证明与申报内容是否对应。</a:t>
            </a:r>
          </a:p>
        </p:txBody>
      </p:sp>
      <p:sp>
        <p:nvSpPr>
          <p:cNvPr id="22" name="Oval 21"/>
          <p:cNvSpPr/>
          <p:nvPr/>
        </p:nvSpPr>
        <p:spPr>
          <a:xfrm>
            <a:off x="859536" y="4123944"/>
            <a:ext cx="658368" cy="658368"/>
          </a:xfrm>
          <a:prstGeom prst="ellipse">
            <a:avLst/>
          </a:prstGeom>
          <a:solidFill>
            <a:srgbClr val="2F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" y="4297679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4050791"/>
            <a:ext cx="9738360" cy="713232"/>
          </a:xfrm>
          <a:prstGeom prst="roundRect">
            <a:avLst/>
          </a:prstGeom>
          <a:solidFill>
            <a:srgbClr val="E5EEF9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93392" y="4160520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2D4E"/>
                </a:solidFill>
                <a:latin typeface="Microsoft YaHei"/>
              </a:rPr>
              <a:t>提交申请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169663"/>
            <a:ext cx="790956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B3442"/>
                </a:solidFill>
                <a:latin typeface="Microsoft YaHei"/>
              </a:rPr>
              <a:t>核对信息、分值相关信息及附件后提交。</a:t>
            </a:r>
          </a:p>
        </p:txBody>
      </p:sp>
      <p:sp>
        <p:nvSpPr>
          <p:cNvPr id="27" name="Oval 26"/>
          <p:cNvSpPr/>
          <p:nvPr/>
        </p:nvSpPr>
        <p:spPr>
          <a:xfrm>
            <a:off x="859536" y="5001768"/>
            <a:ext cx="658368" cy="658368"/>
          </a:xfrm>
          <a:prstGeom prst="ellipse">
            <a:avLst/>
          </a:prstGeom>
          <a:solidFill>
            <a:srgbClr val="218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" y="5175504"/>
            <a:ext cx="566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83080" y="4928616"/>
            <a:ext cx="9738360" cy="713232"/>
          </a:xfrm>
          <a:prstGeom prst="roundRect">
            <a:avLst/>
          </a:prstGeom>
          <a:solidFill>
            <a:srgbClr val="E2F3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93392" y="5038344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2D4E"/>
                </a:solidFill>
                <a:latin typeface="Microsoft YaHei"/>
              </a:rPr>
              <a:t>查看审核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5047488"/>
            <a:ext cx="790956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B3442"/>
                </a:solidFill>
                <a:latin typeface="Microsoft YaHei"/>
              </a:rPr>
              <a:t>如被驳回，查看原因、修改材料后重新提交。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83080" y="5897880"/>
            <a:ext cx="9738360" cy="438912"/>
          </a:xfrm>
          <a:prstGeom prst="roundRect">
            <a:avLst/>
          </a:prstGeom>
          <a:solidFill>
            <a:srgbClr val="FFF4E5"/>
          </a:solidFill>
          <a:ln>
            <a:solidFill>
              <a:srgbClr val="EFC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65960" y="5980176"/>
            <a:ext cx="93268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F5B18"/>
                </a:solidFill>
                <a:latin typeface="Microsoft YaHei"/>
              </a:rPr>
              <a:t>注意：提交资料审核后，学生不可再编辑申请；请提交前核对信息与附件。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F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8755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D4E"/>
                </a:solidFill>
                <a:latin typeface="Microsoft YaHei"/>
              </a:rPr>
              <a:t>三个关键时间节点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284"/>
                </a:solidFill>
                <a:latin typeface="Microsoft YaHei"/>
              </a:rPr>
              <a:t>常规申报与审核按学期周次推进；毕业班另有最终汇总节点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284"/>
                </a:solidFill>
                <a:latin typeface="Microsoft YaHei"/>
              </a:rPr>
              <a:t>05 /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2148840"/>
            <a:ext cx="9235440" cy="50292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08760" y="1947672"/>
            <a:ext cx="457200" cy="457200"/>
          </a:xfrm>
          <a:prstGeom prst="ellipse">
            <a:avLst/>
          </a:prstGeom>
          <a:solidFill>
            <a:srgbClr val="2F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39" y="2743200"/>
            <a:ext cx="2788920" cy="1965960"/>
          </a:xfrm>
          <a:prstGeom prst="roundRect">
            <a:avLst/>
          </a:prstGeom>
          <a:solidFill>
            <a:srgbClr val="E5EEF9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926080"/>
            <a:ext cx="251460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F67B0"/>
                </a:solidFill>
                <a:latin typeface="Microsoft YaHei"/>
              </a:rPr>
              <a:t>第1—3周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02152"/>
            <a:ext cx="25146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82D4E"/>
                </a:solidFill>
                <a:latin typeface="Microsoft YaHei"/>
              </a:rPr>
              <a:t>学生申请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3931920"/>
            <a:ext cx="242316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2B3442"/>
                </a:solidFill>
                <a:latin typeface="Microsoft YaHei"/>
              </a:rPr>
              <a:t>提交学分认定申请及相关支撑材料。</a:t>
            </a:r>
          </a:p>
        </p:txBody>
      </p:sp>
      <p:sp>
        <p:nvSpPr>
          <p:cNvPr id="12" name="Oval 11"/>
          <p:cNvSpPr/>
          <p:nvPr/>
        </p:nvSpPr>
        <p:spPr>
          <a:xfrm>
            <a:off x="4800600" y="1947672"/>
            <a:ext cx="457200" cy="457200"/>
          </a:xfrm>
          <a:prstGeom prst="ellipse">
            <a:avLst/>
          </a:prstGeom>
          <a:solidFill>
            <a:srgbClr val="218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97680" y="2743200"/>
            <a:ext cx="2788920" cy="1965960"/>
          </a:xfrm>
          <a:prstGeom prst="roundRect">
            <a:avLst/>
          </a:prstGeom>
          <a:solidFill>
            <a:srgbClr val="E2F3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2926080"/>
            <a:ext cx="251460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18B8E"/>
                </a:solidFill>
                <a:latin typeface="Microsoft YaHei"/>
              </a:rPr>
              <a:t>第5周前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502152"/>
            <a:ext cx="25146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82D4E"/>
                </a:solidFill>
                <a:latin typeface="Microsoft YaHei"/>
              </a:rPr>
              <a:t>导师审核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931920"/>
            <a:ext cx="242316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2B3442"/>
                </a:solidFill>
                <a:latin typeface="Microsoft YaHei"/>
              </a:rPr>
              <a:t>审核材料、核定分值，驳回或提交认定。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1947672"/>
            <a:ext cx="457200" cy="457200"/>
          </a:xfrm>
          <a:prstGeom prst="ellipse">
            <a:avLst/>
          </a:prstGeom>
          <a:solidFill>
            <a:srgbClr val="E0A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89519" y="2743200"/>
            <a:ext cx="2788920" cy="1965960"/>
          </a:xfrm>
          <a:prstGeom prst="roundRect">
            <a:avLst/>
          </a:prstGeom>
          <a:solidFill>
            <a:srgbClr val="FAF2DE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6679" y="2926080"/>
            <a:ext cx="2514600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0A640"/>
                </a:solidFill>
                <a:latin typeface="Microsoft YaHei"/>
              </a:rPr>
              <a:t>第7学期
第15—16周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3502152"/>
            <a:ext cx="25146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82D4E"/>
                </a:solidFill>
                <a:latin typeface="Microsoft YaHei"/>
              </a:rPr>
              <a:t>毕业班汇总审定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931920"/>
            <a:ext cx="242316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2B3442"/>
                </a:solidFill>
                <a:latin typeface="Microsoft YaHei"/>
              </a:rPr>
              <a:t>班导师汇总成绩，经学院分管领导签字后报创新创业学院审定。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074920"/>
            <a:ext cx="5230368" cy="1024128"/>
          </a:xfrm>
          <a:prstGeom prst="roundRect">
            <a:avLst/>
          </a:prstGeom>
          <a:solidFill>
            <a:srgbClr val="F1F5FA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3232" y="5184648"/>
            <a:ext cx="64008" cy="804672"/>
          </a:xfrm>
          <a:prstGeom prst="rect">
            <a:avLst/>
          </a:prstGeom>
          <a:solidFill>
            <a:srgbClr val="2F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239512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D4E"/>
                </a:solidFill>
                <a:latin typeface="Microsoft YaHei"/>
              </a:rPr>
              <a:t>学分预警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5696712"/>
            <a:ext cx="4901183" cy="31089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2F67B0"/>
                </a:solidFill>
                <a:latin typeface="Microsoft YaHei"/>
              </a:rPr>
              <a:t>第6学期末：</a:t>
            </a:r>
            <a:r>
              <a:rPr sz="1100">
                <a:solidFill>
                  <a:srgbClr val="2B3442"/>
                </a:solidFill>
                <a:latin typeface="Microsoft YaHei"/>
              </a:rPr>
              <a:t>学院对未完成认定要求的学生进行一次预警。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5074920"/>
            <a:ext cx="5230368" cy="1024128"/>
          </a:xfrm>
          <a:prstGeom prst="roundRect">
            <a:avLst/>
          </a:prstGeom>
          <a:solidFill>
            <a:srgbClr val="E2F3F1"/>
          </a:solidFill>
          <a:ln w="1016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99632" y="5184648"/>
            <a:ext cx="64008" cy="804672"/>
          </a:xfrm>
          <a:prstGeom prst="rect">
            <a:avLst/>
          </a:prstGeom>
          <a:solidFill>
            <a:srgbClr val="218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5239512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D4E"/>
                </a:solidFill>
                <a:latin typeface="Microsoft YaHei"/>
              </a:rPr>
              <a:t>导师工作底线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5696712"/>
            <a:ext cx="4901183" cy="31089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2F67B0"/>
                </a:solidFill>
                <a:latin typeface="Microsoft YaHei"/>
              </a:rPr>
              <a:t>按时、按标、按流程：</a:t>
            </a:r>
            <a:r>
              <a:rPr sz="1100">
                <a:solidFill>
                  <a:srgbClr val="2B3442"/>
                </a:solidFill>
                <a:latin typeface="Microsoft YaHei"/>
              </a:rPr>
              <a:t>材料真实完整，分值有据可查，审核留痕。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279</Words>
  <Application>Microsoft Office PowerPoint</Application>
  <PresentationFormat>宽屏</PresentationFormat>
  <Paragraphs>86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《创新创业实践》课程学分认定工作要点</dc:title>
  <dc:subject>2026—2027学年第一学期</dc:subject>
  <dc:creator>OpenAI</dc:creator>
  <cp:keywords/>
  <dc:description>generated using python-pptx</dc:description>
  <cp:lastModifiedBy>c13506</cp:lastModifiedBy>
  <cp:revision>2</cp:revision>
  <dcterms:created xsi:type="dcterms:W3CDTF">2013-01-27T09:14:16Z</dcterms:created>
  <dcterms:modified xsi:type="dcterms:W3CDTF">2026-10-20T10:25:08Z</dcterms:modified>
  <cp:category/>
</cp:coreProperties>
</file>